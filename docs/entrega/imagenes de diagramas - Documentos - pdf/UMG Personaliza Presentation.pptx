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Mongolian Baiti" panose="03000500000000000000" pitchFamily="66" charset="0"/>
      <p:regular r:id="rId16"/>
    </p:embeddedFont>
    <p:embeddedFont>
      <p:font typeface="Palatino Linotype" panose="02040502050505030304" pitchFamily="18" charset="0"/>
      <p:regular r:id="rId17"/>
      <p:bold r:id="rId18"/>
      <p:italic r:id="rId19"/>
      <p:boldItalic r:id="rId20"/>
    </p:embeddedFont>
    <p:embeddedFont>
      <p:font typeface="Plus Jakarta Sans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8247"/>
    <a:srgbClr val="D9BE7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8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638800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82150" y="657225"/>
            <a:ext cx="2000250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 flipV="1">
            <a:off x="817561" y="3618102"/>
            <a:ext cx="2145507" cy="233663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6388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609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4550" y="714375"/>
            <a:ext cx="1790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Demo &amp; Architecture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155522"/>
            <a:ext cx="7785100" cy="151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  <a:spcBef>
                <a:spcPts val="1200"/>
              </a:spcBef>
              <a:spcAft>
                <a:spcPts val="600"/>
              </a:spcAft>
            </a:pPr>
            <a:r>
              <a:rPr sz="9600" b="1" i="0" u="none" dirty="0">
                <a:solidFill>
                  <a:srgbClr val="AF8247"/>
                </a:solidFill>
                <a:latin typeface="Palatino Linotype" panose="02040502050505030304" pitchFamily="18" charset="0"/>
              </a:rPr>
              <a:t>UMG</a:t>
            </a:r>
            <a:r>
              <a:rPr sz="9600" b="1" i="0" u="none" dirty="0">
                <a:solidFill>
                  <a:srgbClr val="D9BE79"/>
                </a:solidFill>
                <a:latin typeface="Palatino Linotype" panose="02040502050505030304" pitchFamily="18" charset="0"/>
              </a:rPr>
              <a:t> </a:t>
            </a:r>
            <a:r>
              <a:rPr sz="9600" b="1" i="0" u="none" dirty="0" err="1">
                <a:solidFill>
                  <a:srgbClr val="D9BE79"/>
                </a:solidFill>
                <a:latin typeface="Palatino Linotype" panose="02040502050505030304" pitchFamily="18" charset="0"/>
              </a:rPr>
              <a:t>Personaliza</a:t>
            </a:r>
            <a:endParaRPr sz="9600" b="1" i="0" u="none" dirty="0">
              <a:solidFill>
                <a:srgbClr val="D9BE7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069" y="4085427"/>
            <a:ext cx="8273675" cy="3611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3200" b="1" i="0" u="none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Custom campus products, from design to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6096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700087"/>
            <a:ext cx="3393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CAMPUS E-COMMERCE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876925"/>
            <a:ext cx="2643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Presentation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48375"/>
            <a:ext cx="2643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Buyer Journey &amp;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8950" y="5876925"/>
            <a:ext cx="1940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Recommended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8950" y="6048375"/>
            <a:ext cx="1940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8 - 10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48875" y="533400"/>
            <a:ext cx="1533525" cy="666750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43200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43200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43200"/>
            <a:ext cx="3505200" cy="2419350"/>
          </a:xfrm>
          <a:prstGeom prst="roundRect">
            <a:avLst>
              <a:gd name="adj" fmla="val 62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956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956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956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22897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3228975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587" y="3228975"/>
            <a:ext cx="1428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21717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01.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1275" y="609600"/>
            <a:ext cx="13239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D4ED8"/>
                </a:solidFill>
                <a:latin typeface="Plus Jakarta Sans"/>
              </a:rPr>
              <a:t>Core Need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272534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705225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Plus Jakarta Sans"/>
              </a:rPr>
              <a:t>Student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124325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Students need personalized university products tailored to their specific campus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705225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Order Friction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4124325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The purchasing process must be simple, web-accessible, and strictly campus-oriented.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705225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Staff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4124325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Campus staff require order preparation visibility and verifiable delivery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6925" y="533400"/>
            <a:ext cx="1895475" cy="666750"/>
          </a:xfrm>
          <a:prstGeom prst="roundRect">
            <a:avLst>
              <a:gd name="adj" fmla="val 1142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28875"/>
            <a:ext cx="342900" cy="342900"/>
          </a:xfrm>
          <a:prstGeom prst="roundRect">
            <a:avLst>
              <a:gd name="adj" fmla="val 222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3219450"/>
            <a:ext cx="342900" cy="342900"/>
          </a:xfrm>
          <a:prstGeom prst="roundRect">
            <a:avLst>
              <a:gd name="adj" fmla="val 222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4010025"/>
            <a:ext cx="342900" cy="342900"/>
          </a:xfrm>
          <a:prstGeom prst="roundRect">
            <a:avLst>
              <a:gd name="adj" fmla="val 222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600" y="4800600"/>
            <a:ext cx="342900" cy="342900"/>
          </a:xfrm>
          <a:prstGeom prst="roundRect">
            <a:avLst>
              <a:gd name="adj" fmla="val 222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105025"/>
            <a:ext cx="5267325" cy="3619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15075" y="2229427"/>
            <a:ext cx="5267325" cy="3433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21907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latin typeface="Plus Jakarta Sans"/>
              </a:rPr>
              <a:t>02. Product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609600"/>
            <a:ext cx="1685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Unified Campus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275034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2507992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3298567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4089142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4879717"/>
            <a:ext cx="6286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latin typeface="Plus Jakarta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2428875"/>
            <a:ext cx="62382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Product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2667000"/>
            <a:ext cx="4848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Browse campus-ready merchandise items available for instant customization.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3219450"/>
            <a:ext cx="62382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A/B-Side 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457575"/>
            <a:ext cx="4848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Configure front and back surfaces with dynamic visual filters and custom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010025"/>
            <a:ext cx="62382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Campus Delivery Areas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4248150"/>
            <a:ext cx="4848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Designate specific campus meeting spots for fast and organized collection.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4800600"/>
            <a:ext cx="62382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Order History &amp; Live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5038725"/>
            <a:ext cx="48482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Real-time progress monitoring from checkout confirmation to handoff.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4650"/>
            <a:ext cx="2600325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14650"/>
            <a:ext cx="2600325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14650"/>
            <a:ext cx="2600325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914650"/>
            <a:ext cx="2600325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90875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908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1908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190875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3305175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9037" y="3305175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30517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0687" y="3305175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9526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03. System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533400"/>
            <a:ext cx="18478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Speaker 2 • Roles &amp;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71525"/>
            <a:ext cx="2437804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User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800475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Buyer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114800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Customizes items, places campus orders, and follows real-time delivery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800475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4114800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Manages catalog, updates operational settings, and oversees entire platform logic.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800475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Supervisor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4114800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Monitors store sales metrics and reviews general fulfillment analytics.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800475"/>
            <a:ext cx="278784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Delivery 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4114800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Performs manual code search, captures signature evidence, and completes handoff.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6925" y="533400"/>
            <a:ext cx="1895475" cy="666750"/>
          </a:xfrm>
          <a:prstGeom prst="roundRect">
            <a:avLst>
              <a:gd name="adj" fmla="val 1142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19437"/>
            <a:ext cx="10972800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58639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94843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1047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67251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3455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39658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75862" y="343376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F8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953" y="3843337"/>
            <a:ext cx="1047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157" y="3843337"/>
            <a:ext cx="1047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61" y="3843337"/>
            <a:ext cx="1047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65" y="3843337"/>
            <a:ext cx="1047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769" y="3843337"/>
            <a:ext cx="1047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973" y="3843337"/>
            <a:ext cx="104775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2476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04. User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9325" y="609600"/>
            <a:ext cx="16859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7-Step End-to-End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71525"/>
            <a:ext cx="312539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Buyer 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764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 dirty="0">
                <a:solidFill>
                  <a:schemeClr val="tx1"/>
                </a:solidFill>
                <a:latin typeface="Plus Jakarta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194" y="4005262"/>
            <a:ext cx="7200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7189" y="4243387"/>
            <a:ext cx="800100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JWT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968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chemeClr val="tx1"/>
                </a:solidFill>
                <a:latin typeface="Plus Jakarta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387" y="4005262"/>
            <a:ext cx="8901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Browse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443" y="4243387"/>
            <a:ext cx="762000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8172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chemeClr val="tx1"/>
                </a:solidFill>
                <a:latin typeface="Plus Jakarta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9573" y="4005262"/>
            <a:ext cx="118014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Personalize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6734" y="4243387"/>
            <a:ext cx="885825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A/B Editor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376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chemeClr val="tx1"/>
                </a:solidFill>
                <a:latin typeface="Plus Jakarta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5811" y="4005262"/>
            <a:ext cx="64008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3426" y="4243387"/>
            <a:ext cx="704850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580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chemeClr val="tx1"/>
                </a:solidFill>
                <a:latin typeface="Plus Jakarta Sa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1988" y="4005262"/>
            <a:ext cx="106013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Checkout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3417" y="4243387"/>
            <a:ext cx="1057275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Campus 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783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chemeClr val="tx1"/>
                </a:solidFill>
                <a:latin typeface="Plus Jakarta San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8213" y="4005262"/>
            <a:ext cx="7200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2958" y="4243387"/>
            <a:ext cx="990600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WebSocket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987" y="3558487"/>
            <a:ext cx="742950" cy="2077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chemeClr val="tx1"/>
                </a:solidFill>
                <a:latin typeface="Plus Jakarta San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4404" y="4005262"/>
            <a:ext cx="9401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Receive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5362" y="4243387"/>
            <a:ext cx="838200" cy="152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Plus Jakarta Sans"/>
              </a:rPr>
              <a:t>Signature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105025"/>
            <a:ext cx="52673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28887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1943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0998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0053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891087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46101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05. Feature Deep 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592574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Personalization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50387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Image Input: Upload local photos or utilize live camera capture.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5150"/>
            <a:ext cx="50387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Visual Overlay Filters: Apply original, dog, glasses, or hat effects.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95700"/>
            <a:ext cx="50387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Transform Controls: Adjust filter scale and positioning dynamically.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6250"/>
            <a:ext cx="50387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Text Additions: Include custom text slogans or student names.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76800"/>
            <a:ext cx="50387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Dual Surface Support: Separate Side A and Side B configuration tabs.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D3491D38-1D06-B1DF-85F6-5980E89A77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1"/>
          <a:stretch/>
        </p:blipFill>
        <p:spPr>
          <a:xfrm>
            <a:off x="6972302" y="0"/>
            <a:ext cx="5219698" cy="6795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53250" y="2945606"/>
            <a:ext cx="4629150" cy="1938337"/>
          </a:xfrm>
          <a:prstGeom prst="roundRect">
            <a:avLst>
              <a:gd name="adj" fmla="val 7862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62225"/>
            <a:ext cx="611505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14725"/>
            <a:ext cx="611505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467225"/>
            <a:ext cx="6115050" cy="8001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717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242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7677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475" y="3245643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737" y="2876550"/>
            <a:ext cx="1047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3829050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781550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46863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06. Checkout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6925" y="533400"/>
            <a:ext cx="19907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Speaker 3 • Order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602575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Checkout &amp; Order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9475" y="3574256"/>
            <a:ext cx="4962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81337"/>
                </a:solidFill>
                <a:latin typeface="Plus Jakarta Sans"/>
              </a:rPr>
              <a:t>Demo Card 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9475" y="3964781"/>
            <a:ext cx="4171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F1239"/>
                </a:solidFill>
                <a:latin typeface="Plus Jakarta Sans"/>
              </a:rPr>
              <a:t>The card option creates a mock reference only. It is not connected to a banking gateway and references are not stored as real financial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7125" y="3221831"/>
            <a:ext cx="2357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Plus Jakarta Sans"/>
              </a:rPr>
              <a:t>Payment Integration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2762250"/>
            <a:ext cx="567570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Campus Delivery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3025" y="2981325"/>
            <a:ext cx="5405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Designated meeting area selection with optional delivery notes.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3714750"/>
            <a:ext cx="533816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Cash on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3025" y="3933825"/>
            <a:ext cx="5083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In-person cash payment confirmation upon receiving order.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4667250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Order Confirmation &amp; Receipt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025" y="4886325"/>
            <a:ext cx="6048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Unique order code generation and optional downloadable PDF receipt.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91725" y="533400"/>
            <a:ext cx="1590675" cy="666750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47987"/>
            <a:ext cx="10972800" cy="847725"/>
          </a:xfrm>
          <a:prstGeom prst="roundRect">
            <a:avLst>
              <a:gd name="adj" fmla="val 179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24312"/>
            <a:ext cx="10972800" cy="857250"/>
          </a:xfrm>
          <a:prstGeom prst="roundRect">
            <a:avLst>
              <a:gd name="adj" fmla="val 1777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186112"/>
            <a:ext cx="1870769" cy="371475"/>
          </a:xfrm>
          <a:prstGeom prst="roundRect">
            <a:avLst>
              <a:gd name="adj" fmla="val 2051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04244" y="3186112"/>
            <a:ext cx="1870769" cy="371475"/>
          </a:xfrm>
          <a:prstGeom prst="roundRect">
            <a:avLst>
              <a:gd name="adj" fmla="val 2051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60764" y="3186112"/>
            <a:ext cx="1870769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7283" y="3186112"/>
            <a:ext cx="1870769" cy="371475"/>
          </a:xfrm>
          <a:prstGeom prst="roundRect">
            <a:avLst>
              <a:gd name="adj" fmla="val 20512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73803" y="3186112"/>
            <a:ext cx="1870769" cy="371475"/>
          </a:xfrm>
          <a:prstGeom prst="roundRect">
            <a:avLst>
              <a:gd name="adj" fmla="val 20512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426243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39200" y="4291012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FDA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72700" y="4291012"/>
            <a:ext cx="1171575" cy="323850"/>
          </a:xfrm>
          <a:prstGeom prst="roundRect">
            <a:avLst>
              <a:gd name="adj" fmla="val 23529"/>
            </a:avLst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694" y="330041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14" y="330041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733" y="330041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253" y="3300412"/>
            <a:ext cx="13335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533400"/>
            <a:ext cx="27146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07. State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4125" y="609600"/>
            <a:ext cx="1381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Finite State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71525"/>
            <a:ext cx="3437929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Order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78" y="3281362"/>
            <a:ext cx="20336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34155"/>
                </a:solidFill>
                <a:latin typeface="Plus Jakarta Sans"/>
              </a:rPr>
              <a:t>1. Received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2798" y="3281362"/>
            <a:ext cx="20336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B45309"/>
                </a:solidFill>
                <a:latin typeface="Plus Jakarta Sans"/>
              </a:rPr>
              <a:t>2. 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9317" y="3281362"/>
            <a:ext cx="20336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369A1"/>
                </a:solidFill>
                <a:latin typeface="Plus Jakarta Sans"/>
              </a:rPr>
              <a:t>3. On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5837" y="3281362"/>
            <a:ext cx="20336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B21A8"/>
                </a:solidFill>
                <a:latin typeface="Plus Jakarta Sans"/>
              </a:rPr>
              <a:t>4. Meeting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2356" y="3281362"/>
            <a:ext cx="20336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5803D"/>
                </a:solidFill>
                <a:latin typeface="Plus Jakarta Sans"/>
              </a:rPr>
              <a:t>5. 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426243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E11D48"/>
                </a:solidFill>
                <a:latin typeface="Plus Jakarta San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600" y="4367212"/>
            <a:ext cx="1009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81337"/>
                </a:solidFill>
                <a:latin typeface="Plus Jakarta Sans"/>
              </a:rPr>
              <a:t>Retry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25100" y="4367212"/>
            <a:ext cx="962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Cancel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125" y="4267200"/>
            <a:ext cx="59257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F1239"/>
                </a:solidFill>
                <a:latin typeface="Plus Jakarta Sans"/>
              </a:rPr>
              <a:t>Exception Handling: Recipient Not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1125" y="4467225"/>
            <a:ext cx="5643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E123C"/>
                </a:solidFill>
                <a:latin typeface="Plus Jakarta Sans"/>
              </a:rPr>
              <a:t>Prevents arbitrary state jumps and guarantees clean operational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4629150"/>
            <a:ext cx="5248275" cy="609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629150"/>
            <a:ext cx="38100" cy="6096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105025"/>
            <a:ext cx="526732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0508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384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671887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014787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49149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08. Fulfillment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632579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Tracking &amp; Delivery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90800"/>
            <a:ext cx="5038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WebSocket Live Updates: Real-time status push to buyer tracking screen.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24200"/>
            <a:ext cx="5038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Delivery Photo Capture: Driver attaches physical package proof photo.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657600"/>
            <a:ext cx="620791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Digital Signature Canvas: Recipient signs directly on driver screen.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00500"/>
            <a:ext cx="5038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Manual Code Lookup: Driver searches orders by order code (not QR scan).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762500"/>
            <a:ext cx="49625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Signature Storage Note: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The signature canvas is currently uploaded as image evidence. A dedicated database signature field is pending.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38EC2CA-2016-B676-A098-79EA4B251D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712" y="367570"/>
            <a:ext cx="5234638" cy="631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6512"/>
            <a:ext cx="10972800" cy="790575"/>
          </a:xfrm>
          <a:prstGeom prst="roundRect">
            <a:avLst>
              <a:gd name="adj" fmla="val 1445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19487"/>
            <a:ext cx="10972800" cy="790575"/>
          </a:xfrm>
          <a:prstGeom prst="roundRect">
            <a:avLst>
              <a:gd name="adj" fmla="val 1445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91725" y="2838450"/>
            <a:ext cx="13906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06000" y="3781425"/>
            <a:ext cx="1476375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62462"/>
            <a:ext cx="5410200" cy="790575"/>
          </a:xfrm>
          <a:prstGeom prst="roundRect">
            <a:avLst>
              <a:gd name="adj" fmla="val 14457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4462462"/>
            <a:ext cx="5410200" cy="790575"/>
          </a:xfrm>
          <a:prstGeom prst="roundRect">
            <a:avLst>
              <a:gd name="adj" fmla="val 14457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8130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242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6725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4667250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2886075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29050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4772025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4772025"/>
            <a:ext cx="1905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387667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09. 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800" y="533400"/>
            <a:ext cx="22288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Speaker 4 • Tech Stack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71525"/>
            <a:ext cx="496312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5075" y="2895600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REST / WebSocket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9350" y="3838575"/>
            <a:ext cx="1304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Plus Jakarta Sans"/>
              </a:rPr>
              <a:t>State Machine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2776537"/>
            <a:ext cx="341292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Browser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3025" y="2995612"/>
            <a:ext cx="3250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B82F6"/>
                </a:solidFill>
                <a:latin typeface="Plus Jakarta Sans"/>
              </a:rPr>
              <a:t>Vanilla JS, HTML5, CSS3, Signature Canvas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3719512"/>
            <a:ext cx="3750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Plus Jakarta Sans"/>
              </a:rPr>
              <a:t>Express 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3025" y="3938587"/>
            <a:ext cx="3571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6A34A"/>
                </a:solidFill>
                <a:latin typeface="Plus Jakarta Sans"/>
              </a:rPr>
              <a:t>Node.js, Express Router, JWT Auth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3025" y="4662487"/>
            <a:ext cx="19877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C2D12"/>
                </a:solidFill>
                <a:latin typeface="Plus Jakarta Sans"/>
              </a:rPr>
              <a:t>MySQL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3025" y="4881562"/>
            <a:ext cx="1893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2410C"/>
                </a:solidFill>
                <a:latin typeface="Plus Jakarta Sans"/>
              </a:rPr>
              <a:t>Relational Business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5625" y="4662487"/>
            <a:ext cx="298787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81C87"/>
                </a:solidFill>
                <a:latin typeface="Plus Jakarta Sans"/>
              </a:rPr>
              <a:t>External Microservices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5625" y="4881562"/>
            <a:ext cx="2845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E22CE"/>
                </a:solidFill>
                <a:latin typeface="Plus Jakarta Sans"/>
              </a:rPr>
              <a:t>PDF Generator, SMTP, WhatsApp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96475" y="533400"/>
            <a:ext cx="1685925" cy="666750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38475"/>
            <a:ext cx="54102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3038475"/>
            <a:ext cx="54102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10025"/>
            <a:ext cx="54102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4010025"/>
            <a:ext cx="54102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257550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3257550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22910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4229100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46577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10.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8875" y="609600"/>
            <a:ext cx="147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Production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5988248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Security &amp; Quality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3238500"/>
            <a:ext cx="496312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JWT &amp; HttpOnly Cookies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3486150"/>
            <a:ext cx="4726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Role authorization with secure token cookie refresh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238500"/>
            <a:ext cx="481310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Bcrypt Hashing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486150"/>
            <a:ext cx="4583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Secure password encryption for all platform user accounts.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4210050"/>
            <a:ext cx="456307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Input Limits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575" y="4457700"/>
            <a:ext cx="4345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API rate limiting and payload upload file-size restrictions.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4210050"/>
            <a:ext cx="461307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Audit Logs &amp; reCAPTCHA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25" y="4457700"/>
            <a:ext cx="4393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Action tracking records and anti-bot checkout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67900" y="533400"/>
            <a:ext cx="1714500" cy="666750"/>
          </a:xfrm>
          <a:prstGeom prst="roundRect">
            <a:avLst>
              <a:gd name="adj" fmla="val 11428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29450" y="2900362"/>
            <a:ext cx="4552950" cy="1990725"/>
          </a:xfrm>
          <a:prstGeom prst="roundRect">
            <a:avLst>
              <a:gd name="adj" fmla="val 765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043112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586037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128962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671887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214812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600" y="4757737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5300662"/>
            <a:ext cx="611505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43850" y="4052887"/>
            <a:ext cx="716458" cy="190500"/>
          </a:xfrm>
          <a:prstGeom prst="roundRect">
            <a:avLst>
              <a:gd name="adj" fmla="val 2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31758" y="4052887"/>
            <a:ext cx="716458" cy="190500"/>
          </a:xfrm>
          <a:prstGeom prst="roundRect">
            <a:avLst>
              <a:gd name="adj" fmla="val 2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75" y="3157537"/>
            <a:ext cx="14287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33909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11. Live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0300" y="609600"/>
            <a:ext cx="1504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7-Step Live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71525"/>
            <a:ext cx="432554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Demonstration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7575" y="3471862"/>
            <a:ext cx="4924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Plus Jakarta Sans"/>
              </a:rPr>
              <a:t>Authorization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3843337"/>
            <a:ext cx="417195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BE123C"/>
                </a:solidFill>
                <a:latin typeface="Plus Jakarta Sans"/>
              </a:rPr>
              <a:t>The current state-change route contains an authorization mismatch ( vs ) and may reject transitions. Pre-generated backup order codes are prepared for demo continuity.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2166937"/>
            <a:ext cx="352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2176462"/>
            <a:ext cx="1295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Login as Buyer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2709862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2719387"/>
            <a:ext cx="221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Personalize Product (A/B)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" y="3252787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3262312"/>
            <a:ext cx="1428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Add Item to Cart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575" y="3795712"/>
            <a:ext cx="3905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3805237"/>
            <a:ext cx="1607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Confirm Checkout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4338637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4348162"/>
            <a:ext cx="1726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Open Tracking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" y="4881562"/>
            <a:ext cx="38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4891087"/>
            <a:ext cx="190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Update Order as Staff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575" y="5424487"/>
            <a:ext cx="371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650" y="5434012"/>
            <a:ext cx="2500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Plus Jakarta Sans"/>
              </a:rPr>
              <a:t>Confirm Delivery &amp; Signature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5700" y="3138487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11D48"/>
                </a:solidFill>
                <a:latin typeface="Plus Jakarta Sans"/>
              </a:rPr>
              <a:t>Backup Plan &amp; Tech Limitation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1950" y="4071937"/>
            <a:ext cx="92600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BE123C"/>
                </a:solidFill>
                <a:latin typeface="monospace"/>
              </a:rPr>
              <a:t>req.user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858" y="4071937"/>
            <a:ext cx="92600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BE123C"/>
                </a:solidFill>
                <a:latin typeface="monospace"/>
              </a:rPr>
              <a:t>req.auth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63075" y="533400"/>
            <a:ext cx="2219325" cy="666750"/>
          </a:xfrm>
          <a:prstGeom prst="roundRect">
            <a:avLst>
              <a:gd name="adj" fmla="val 11428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04950"/>
            <a:ext cx="5372100" cy="4819650"/>
          </a:xfrm>
          <a:prstGeom prst="roundRect">
            <a:avLst>
              <a:gd name="adj" fmla="val 31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504950"/>
            <a:ext cx="5372100" cy="4819650"/>
          </a:xfrm>
          <a:prstGeom prst="roundRect">
            <a:avLst>
              <a:gd name="adj" fmla="val 3162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804987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804987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479107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11D48"/>
                </a:solidFill>
                <a:latin typeface="Plus Jakarta Sans"/>
              </a:rPr>
              <a:t>12. Scope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15475" y="609600"/>
            <a:ext cx="20097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11D48"/>
                </a:solidFill>
                <a:latin typeface="Plus Jakarta Sans"/>
              </a:rPr>
              <a:t>Implemented vs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616327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Current Scope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1781175"/>
            <a:ext cx="6025753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Implemented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1781175"/>
            <a:ext cx="5419725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9F1239"/>
                </a:solidFill>
                <a:latin typeface="Plus Jakarta Sans"/>
              </a:rPr>
              <a:t>Known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171700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Functional A/B side product visual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466975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End-to-end checkout with campus location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2762250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Live WebSocket tracking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057525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Delivery driver signature canvas &amp; photo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2171700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F1239"/>
                </a:solidFill>
                <a:latin typeface="Plus Jakarta Sans"/>
              </a:rPr>
              <a:t>• Card payment is a mock reference (no live banking)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2466975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F1239"/>
                </a:solidFill>
                <a:latin typeface="Plus Jakarta Sans"/>
              </a:rPr>
              <a:t>• Driver order lookup is manual code entry (no QR scan)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762250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F1239"/>
                </a:solidFill>
                <a:latin typeface="Plus Jakarta Sans"/>
              </a:rPr>
              <a:t>• Stock deduction needs transactional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057525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F1239"/>
                </a:solidFill>
                <a:latin typeface="Plus Jakarta Sans"/>
              </a:rPr>
              <a:t>• Signature stored as uploaded image, not separate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46961AC-A307-2CF6-2A44-F05220B46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257" b="73586"/>
          <a:stretch/>
        </p:blipFill>
        <p:spPr>
          <a:xfrm>
            <a:off x="0" y="4599008"/>
            <a:ext cx="12192000" cy="230222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09600" y="5838825"/>
            <a:ext cx="109728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04547" y="910312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1672" y="910312"/>
            <a:ext cx="8191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Plus Jakarta Sans"/>
              </a:rPr>
              <a:t>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9636" y="1672312"/>
            <a:ext cx="576322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UMG Personaliza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8528" y="2487592"/>
            <a:ext cx="540543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Plus Jakarta Sans"/>
              </a:rPr>
              <a:t>Design it. Order it. Track it. Receive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9372" y="3078142"/>
            <a:ext cx="7143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Thank you for your attention. We are ready to answer your questions and demonstrate the platform live.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1CFA848-AAE2-2D5A-C7AD-1ED770BD6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514" b="31687"/>
          <a:stretch/>
        </p:blipFill>
        <p:spPr>
          <a:xfrm>
            <a:off x="2188651" y="4963882"/>
            <a:ext cx="7814698" cy="16686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845</Words>
  <Application>Microsoft Office PowerPoint</Application>
  <PresentationFormat>Panorámica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Plus Jakarta Sans</vt:lpstr>
      <vt:lpstr>Arial</vt:lpstr>
      <vt:lpstr>Palatino Linotype</vt:lpstr>
      <vt:lpstr>Mongolian Baiti</vt:lpstr>
      <vt:lpstr>monospace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L</cp:lastModifiedBy>
  <cp:revision>2</cp:revision>
  <dcterms:created xsi:type="dcterms:W3CDTF">2013-01-27T09:14:16Z</dcterms:created>
  <dcterms:modified xsi:type="dcterms:W3CDTF">2026-09-24T07:59:34Z</dcterms:modified>
  <cp:category/>
</cp:coreProperties>
</file>