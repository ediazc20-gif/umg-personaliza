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Mongolian Baiti" panose="03000500000000000000" pitchFamily="66" charset="0"/>
      <p:regular r:id="rId16"/>
    </p:embeddedFont>
    <p:embeddedFont>
      <p:font typeface="Palatino Linotype" panose="02040502050505030304" pitchFamily="18" charset="0"/>
      <p:regular r:id="rId17"/>
      <p:bold r:id="rId18"/>
      <p:italic r:id="rId19"/>
      <p:boldItalic r:id="rId20"/>
    </p:embeddedFont>
    <p:embeddedFont>
      <p:font typeface="Plus Jakarta Sans"/>
      <p:bold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F8247"/>
    <a:srgbClr val="D9BE7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1914" y="8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5638800"/>
            <a:ext cx="10972800" cy="609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582150" y="657225"/>
            <a:ext cx="2000250" cy="28575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 flipV="1">
            <a:off x="817561" y="3618102"/>
            <a:ext cx="2145507" cy="233663"/>
          </a:xfrm>
          <a:prstGeom prst="roundRect">
            <a:avLst>
              <a:gd name="adj" fmla="val 50000"/>
            </a:avLst>
          </a:prstGeom>
          <a:solidFill>
            <a:srgbClr val="AF8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5638800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609600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4550" y="714375"/>
            <a:ext cx="17907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8BDF8"/>
                </a:solidFill>
                <a:latin typeface="Plus Jakarta Sans"/>
              </a:rPr>
              <a:t>Demo &amp; Architecture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2155522"/>
            <a:ext cx="7785100" cy="1517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5280"/>
              </a:lnSpc>
              <a:spcBef>
                <a:spcPts val="1200"/>
              </a:spcBef>
              <a:spcAft>
                <a:spcPts val="600"/>
              </a:spcAft>
            </a:pPr>
            <a:r>
              <a:rPr sz="9600" b="1" i="0" u="none" dirty="0">
                <a:solidFill>
                  <a:srgbClr val="AF8247"/>
                </a:solidFill>
                <a:latin typeface="Palatino Linotype" panose="02040502050505030304" pitchFamily="18" charset="0"/>
              </a:rPr>
              <a:t>UMG</a:t>
            </a:r>
            <a:r>
              <a:rPr sz="9600" b="1" i="0" u="none" dirty="0">
                <a:solidFill>
                  <a:srgbClr val="D9BE79"/>
                </a:solidFill>
                <a:latin typeface="Palatino Linotype" panose="02040502050505030304" pitchFamily="18" charset="0"/>
              </a:rPr>
              <a:t> </a:t>
            </a:r>
            <a:r>
              <a:rPr sz="9600" b="1" i="0" u="none" dirty="0" err="1">
                <a:solidFill>
                  <a:srgbClr val="D9BE79"/>
                </a:solidFill>
                <a:latin typeface="Palatino Linotype" panose="02040502050505030304" pitchFamily="18" charset="0"/>
              </a:rPr>
              <a:t>Personaliza</a:t>
            </a:r>
            <a:endParaRPr sz="9600" b="1" i="0" u="none" dirty="0">
              <a:solidFill>
                <a:srgbClr val="D9BE79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04069" y="4085427"/>
            <a:ext cx="8273675" cy="36118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729"/>
              </a:lnSpc>
            </a:pPr>
            <a:r>
              <a:rPr sz="3200" b="1" i="0" u="none" dirty="0">
                <a:solidFill>
                  <a:schemeClr val="bg1"/>
                </a:solidFill>
                <a:latin typeface="Mongolian Baiti" panose="03000500000000000000" pitchFamily="66" charset="0"/>
                <a:cs typeface="Mongolian Baiti" panose="03000500000000000000" pitchFamily="66" charset="0"/>
              </a:rPr>
              <a:t>Custom campus products, from design to delivery.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25" y="609600"/>
            <a:ext cx="66675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Plus Jakarta Sans"/>
              </a:rPr>
              <a:t>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900" y="700087"/>
            <a:ext cx="3393281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94A3B8"/>
                </a:solidFill>
                <a:latin typeface="Plus Jakarta Sans"/>
              </a:rPr>
              <a:t>CAMPUS E-COMMERCE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876925"/>
            <a:ext cx="26431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Presentation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048375"/>
            <a:ext cx="264318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8FAFC"/>
                </a:solidFill>
                <a:latin typeface="Plus Jakarta Sans"/>
              </a:rPr>
              <a:t>Buyer Journey &amp;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950" y="5876925"/>
            <a:ext cx="1940718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Recommended Duration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8950" y="6048375"/>
            <a:ext cx="194071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8FAFC"/>
                </a:solidFill>
                <a:latin typeface="Plus Jakarta Sans"/>
              </a:rPr>
              <a:t>8 - 10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10048875" y="533400"/>
            <a:ext cx="1533525" cy="666750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743200"/>
            <a:ext cx="3505200" cy="2419350"/>
          </a:xfrm>
          <a:prstGeom prst="roundRect">
            <a:avLst>
              <a:gd name="adj" fmla="val 629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43400" y="2743200"/>
            <a:ext cx="3505200" cy="2419350"/>
          </a:xfrm>
          <a:prstGeom prst="roundRect">
            <a:avLst>
              <a:gd name="adj" fmla="val 629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77200" y="2743200"/>
            <a:ext cx="3505200" cy="2419350"/>
          </a:xfrm>
          <a:prstGeom prst="roundRect">
            <a:avLst>
              <a:gd name="adj" fmla="val 629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095625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5" y="3095625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425" y="3095625"/>
            <a:ext cx="457200" cy="457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5362" y="3228975"/>
            <a:ext cx="238125" cy="190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8687" y="3228975"/>
            <a:ext cx="219075" cy="1905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0587" y="3228975"/>
            <a:ext cx="142875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533400"/>
            <a:ext cx="21717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01.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01275" y="609600"/>
            <a:ext cx="13239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1D4ED8"/>
                </a:solidFill>
                <a:latin typeface="Plus Jakarta Sans"/>
              </a:rPr>
              <a:t>Core Need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771525"/>
            <a:ext cx="272534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The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825" y="3705225"/>
            <a:ext cx="3875484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 dirty="0">
                <a:solidFill>
                  <a:srgbClr val="0F172A"/>
                </a:solidFill>
                <a:latin typeface="Plus Jakarta Sans"/>
              </a:rPr>
              <a:t>Student Demand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825" y="4124325"/>
            <a:ext cx="3048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475569"/>
                </a:solidFill>
                <a:latin typeface="Plus Jakarta Sans"/>
              </a:rPr>
              <a:t>Students need personalized university products tailored to their specific campus identity.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9625" y="3705225"/>
            <a:ext cx="3875484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Order Friction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9625" y="4124325"/>
            <a:ext cx="3048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The purchasing process must be simple, web-accessible, and strictly campus-oriented.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3425" y="3705225"/>
            <a:ext cx="3838575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Staff Visibility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3425" y="4124325"/>
            <a:ext cx="3048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Campus staff require order preparation visibility and verifiable delivery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686925" y="533400"/>
            <a:ext cx="1895475" cy="666750"/>
          </a:xfrm>
          <a:prstGeom prst="roundRect">
            <a:avLst>
              <a:gd name="adj" fmla="val 11428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428875"/>
            <a:ext cx="342900" cy="342900"/>
          </a:xfrm>
          <a:prstGeom prst="roundRect">
            <a:avLst>
              <a:gd name="adj" fmla="val 22222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9600" y="3219450"/>
            <a:ext cx="342900" cy="342900"/>
          </a:xfrm>
          <a:prstGeom prst="roundRect">
            <a:avLst>
              <a:gd name="adj" fmla="val 22222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09600" y="4010025"/>
            <a:ext cx="342900" cy="342900"/>
          </a:xfrm>
          <a:prstGeom prst="roundRect">
            <a:avLst>
              <a:gd name="adj" fmla="val 22222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9600" y="4800600"/>
            <a:ext cx="342900" cy="342900"/>
          </a:xfrm>
          <a:prstGeom prst="roundRect">
            <a:avLst>
              <a:gd name="adj" fmla="val 22222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2">
                  <a:lumMod val="10000"/>
                </a:schemeClr>
              </a:solidFill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075" y="2105025"/>
            <a:ext cx="5267325" cy="36195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15075" y="2229427"/>
            <a:ext cx="5267325" cy="3433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533400"/>
            <a:ext cx="219075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>
                <a:latin typeface="Plus Jakarta Sans"/>
              </a:rPr>
              <a:t>02. Product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39325" y="609600"/>
            <a:ext cx="168592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166534"/>
                </a:solidFill>
                <a:latin typeface="Plus Jakarta Sans"/>
              </a:rPr>
              <a:t>Unified Campus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771525"/>
            <a:ext cx="2750343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 dirty="0">
                <a:solidFill>
                  <a:srgbClr val="0F172A"/>
                </a:solidFill>
                <a:latin typeface="Plus Jakarta Sans"/>
              </a:rPr>
              <a:t>Our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725" y="2507992"/>
            <a:ext cx="62865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 dirty="0">
                <a:latin typeface="Plus Jakarta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725" y="3298567"/>
            <a:ext cx="62865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 dirty="0">
                <a:latin typeface="Plus Jakarta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725" y="4089142"/>
            <a:ext cx="62865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 dirty="0">
                <a:latin typeface="Plus Jakarta Sa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725" y="4879717"/>
            <a:ext cx="62865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 dirty="0">
                <a:latin typeface="Plus Jakarta San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900" y="2428875"/>
            <a:ext cx="623827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Product Catalog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2667000"/>
            <a:ext cx="48482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Browse campus-ready merchandise items available for instant customization.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219450"/>
            <a:ext cx="623827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A/B-Side Personalization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900" y="3457575"/>
            <a:ext cx="48482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Configure front and back surfaces with dynamic visual filters and custom text.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900" y="4010025"/>
            <a:ext cx="623827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Campus Delivery Areas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900" y="4248150"/>
            <a:ext cx="48482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Designate specific campus meeting spots for fast and organized collection.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900" y="4800600"/>
            <a:ext cx="623827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Order History &amp; Live Tracking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900" y="5038725"/>
            <a:ext cx="48482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Real-time progress monitoring from checkout confirmation to handoff.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914650"/>
            <a:ext cx="2600325" cy="2076450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0425" y="2914650"/>
            <a:ext cx="2600325" cy="2076450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91250" y="2914650"/>
            <a:ext cx="2600325" cy="2076450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82075" y="2914650"/>
            <a:ext cx="2600325" cy="2076450"/>
          </a:xfrm>
          <a:prstGeom prst="roundRect">
            <a:avLst>
              <a:gd name="adj" fmla="val 73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3190875"/>
            <a:ext cx="419100" cy="4191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3190875"/>
            <a:ext cx="419100" cy="4191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3190875"/>
            <a:ext cx="419100" cy="4191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0200" y="3190875"/>
            <a:ext cx="419100" cy="4191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" y="3305175"/>
            <a:ext cx="171450" cy="1905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9037" y="3305175"/>
            <a:ext cx="238125" cy="1905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3675" y="3305175"/>
            <a:ext cx="190500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10687" y="3305175"/>
            <a:ext cx="238125" cy="19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533400"/>
            <a:ext cx="1952625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03. System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33400"/>
            <a:ext cx="184785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4748B"/>
                </a:solidFill>
                <a:latin typeface="Plus Jakarta Sans"/>
              </a:rPr>
              <a:t>Speaker 2 • Roles &amp; Journey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771525"/>
            <a:ext cx="2437804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User Roles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725" y="3800475"/>
            <a:ext cx="2787848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Buyer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725" y="4114800"/>
            <a:ext cx="2219325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0" i="0" u="none">
                <a:solidFill>
                  <a:srgbClr val="64748B"/>
                </a:solidFill>
                <a:latin typeface="Plus Jakarta Sans"/>
              </a:rPr>
              <a:t>Customizes items, places campus orders, and follows real-time delivery status.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800475"/>
            <a:ext cx="2787848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Administrator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8550" y="4114800"/>
            <a:ext cx="2219325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0" i="0" u="none">
                <a:solidFill>
                  <a:srgbClr val="64748B"/>
                </a:solidFill>
                <a:latin typeface="Plus Jakarta Sans"/>
              </a:rPr>
              <a:t>Manages catalog, updates operational settings, and oversees entire platform logic.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9375" y="3800475"/>
            <a:ext cx="2787848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Supervisor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9375" y="4114800"/>
            <a:ext cx="2219325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0" i="0" u="none">
                <a:solidFill>
                  <a:srgbClr val="64748B"/>
                </a:solidFill>
                <a:latin typeface="Plus Jakarta Sans"/>
              </a:rPr>
              <a:t>Monitors store sales metrics and reviews general fulfillment analytics.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0200" y="3800475"/>
            <a:ext cx="2787848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Delivery Driver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0200" y="4114800"/>
            <a:ext cx="2219325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0" i="0" u="none">
                <a:solidFill>
                  <a:srgbClr val="64748B"/>
                </a:solidFill>
                <a:latin typeface="Plus Jakarta Sans"/>
              </a:rPr>
              <a:t>Scans the receipt QR or types the order code, captures signature evidence, and completes handoff.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686925" y="533400"/>
            <a:ext cx="1895475" cy="666750"/>
          </a:xfrm>
          <a:prstGeom prst="roundRect">
            <a:avLst>
              <a:gd name="adj" fmla="val 11428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119437"/>
            <a:ext cx="10972800" cy="1590675"/>
          </a:xfrm>
          <a:prstGeom prst="roundRect">
            <a:avLst>
              <a:gd name="adj" fmla="val 958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58639" y="343376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AF8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794843" y="343376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AF8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31047" y="343376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AF8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867251" y="343376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AF8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403455" y="343376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AF8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939658" y="343376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AF8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475862" y="343376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AF8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953" y="3843337"/>
            <a:ext cx="104775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9157" y="3843337"/>
            <a:ext cx="104775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5361" y="3843337"/>
            <a:ext cx="104775" cy="1714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1565" y="3843337"/>
            <a:ext cx="104775" cy="1714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769" y="3843337"/>
            <a:ext cx="104775" cy="1714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3973" y="3843337"/>
            <a:ext cx="104775" cy="1714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9600" y="533400"/>
            <a:ext cx="24765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04. User 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39325" y="609600"/>
            <a:ext cx="168592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D9488"/>
                </a:solidFill>
                <a:latin typeface="Plus Jakarta Sans"/>
              </a:rPr>
              <a:t>7-Step End-to-End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771525"/>
            <a:ext cx="312539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Buyer Journey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764" y="3558487"/>
            <a:ext cx="742950" cy="20774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 i="0" u="none" dirty="0">
                <a:solidFill>
                  <a:schemeClr val="tx1"/>
                </a:solidFill>
                <a:latin typeface="Plus Jakarta San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194" y="4005262"/>
            <a:ext cx="72009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Login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7189" y="4243387"/>
            <a:ext cx="800100" cy="1524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JWT 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968" y="3558487"/>
            <a:ext cx="742950" cy="20774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 i="0" u="none">
                <a:solidFill>
                  <a:schemeClr val="tx1"/>
                </a:solidFill>
                <a:latin typeface="Plus Jakarta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78387" y="4005262"/>
            <a:ext cx="890111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Browse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443" y="4243387"/>
            <a:ext cx="762000" cy="1524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Catalog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88172" y="3558487"/>
            <a:ext cx="742950" cy="20774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 i="0" u="none">
                <a:solidFill>
                  <a:schemeClr val="tx1"/>
                </a:solidFill>
                <a:latin typeface="Plus Jakarta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9573" y="4005262"/>
            <a:ext cx="118014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Personalize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6734" y="4243387"/>
            <a:ext cx="885825" cy="1524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A/B Editor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24376" y="3558487"/>
            <a:ext cx="742950" cy="20774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 i="0" u="none">
                <a:solidFill>
                  <a:schemeClr val="tx1"/>
                </a:solidFill>
                <a:latin typeface="Plus Jakarta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75811" y="4005262"/>
            <a:ext cx="64008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Cart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3426" y="4243387"/>
            <a:ext cx="704850" cy="1524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0580" y="3558487"/>
            <a:ext cx="742950" cy="20774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 i="0" u="none">
                <a:solidFill>
                  <a:schemeClr val="tx1"/>
                </a:solidFill>
                <a:latin typeface="Plus Jakarta San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1988" y="4005262"/>
            <a:ext cx="106013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Checkout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03417" y="4243387"/>
            <a:ext cx="1057275" cy="1524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Campus Area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783" y="3558487"/>
            <a:ext cx="742950" cy="20774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 i="0" u="none">
                <a:solidFill>
                  <a:schemeClr val="tx1"/>
                </a:solidFill>
                <a:latin typeface="Plus Jakarta Sans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08213" y="4005262"/>
            <a:ext cx="72009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Track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72958" y="4243387"/>
            <a:ext cx="990600" cy="1524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WebSocket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987" y="3558487"/>
            <a:ext cx="742950" cy="20774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 i="0" u="none">
                <a:solidFill>
                  <a:schemeClr val="tx1"/>
                </a:solidFill>
                <a:latin typeface="Plus Jakarta Sans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34404" y="4005262"/>
            <a:ext cx="94011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Plus Jakarta Sans"/>
              </a:rPr>
              <a:t>Receive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5362" y="4243387"/>
            <a:ext cx="838200" cy="1524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Plus Jakarta Sans"/>
              </a:rPr>
              <a:t>Signature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075" y="2105025"/>
            <a:ext cx="5267325" cy="3619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528887"/>
            <a:ext cx="190500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119437"/>
            <a:ext cx="190500" cy="2000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709987"/>
            <a:ext cx="190500" cy="2000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300537"/>
            <a:ext cx="190500" cy="2000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891087"/>
            <a:ext cx="190500" cy="2000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533400"/>
            <a:ext cx="46101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05. Feature Deep Dive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771525"/>
            <a:ext cx="592574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Personalization Experience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14600"/>
            <a:ext cx="5038725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Plus Jakarta Sans"/>
              </a:rPr>
              <a:t>Image Input: Upload local photos or utilize live camera capture.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105150"/>
            <a:ext cx="5038725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Plus Jakarta Sans"/>
              </a:rPr>
              <a:t>Visual Overlay Filters: Apply original, dog, glasses, or hat effects.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95700"/>
            <a:ext cx="5038725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Plus Jakarta Sans"/>
              </a:rPr>
              <a:t>Transform Controls: Adjust filter scale and positioning dynamically.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86250"/>
            <a:ext cx="5038725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Plus Jakarta Sans"/>
              </a:rPr>
              <a:t>Text Additions: Include custom text slogans or student names.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76800"/>
            <a:ext cx="5038725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334155"/>
                </a:solidFill>
                <a:latin typeface="Plus Jakarta Sans"/>
              </a:rPr>
              <a:t>Dual Surface Support: Separate Side A and Side B configuration tabs.</a:t>
            </a: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D3491D38-1D06-B1DF-85F6-5980E89A77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41"/>
          <a:stretch/>
        </p:blipFill>
        <p:spPr>
          <a:xfrm>
            <a:off x="6972302" y="0"/>
            <a:ext cx="5219698" cy="67954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953250" y="2945606"/>
            <a:ext cx="4629150" cy="1938337"/>
          </a:xfrm>
          <a:prstGeom prst="roundRect">
            <a:avLst>
              <a:gd name="adj" fmla="val 7862"/>
            </a:avLst>
          </a:prstGeom>
          <a:solidFill>
            <a:srgbClr val="FFF1F2"/>
          </a:solidFill>
          <a:ln w="9525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562225"/>
            <a:ext cx="6115050" cy="800100"/>
          </a:xfrm>
          <a:prstGeom prst="roundRect">
            <a:avLst>
              <a:gd name="adj" fmla="val 1428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3514725"/>
            <a:ext cx="6115050" cy="800100"/>
          </a:xfrm>
          <a:prstGeom prst="roundRect">
            <a:avLst>
              <a:gd name="adj" fmla="val 1428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4467225"/>
            <a:ext cx="6115050" cy="800100"/>
          </a:xfrm>
          <a:prstGeom prst="roundRect">
            <a:avLst>
              <a:gd name="adj" fmla="val 1428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2771775"/>
            <a:ext cx="38100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" y="3724275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4676775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475" y="3245643"/>
            <a:ext cx="152400" cy="1524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737" y="2876550"/>
            <a:ext cx="104775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875" y="3829050"/>
            <a:ext cx="190500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781550"/>
            <a:ext cx="171450" cy="171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533400"/>
            <a:ext cx="46863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97706"/>
                </a:solidFill>
                <a:latin typeface="Plus Jakarta Sans"/>
              </a:rPr>
              <a:t>06. Checkout Process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86925" y="533400"/>
            <a:ext cx="1990725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4748B"/>
                </a:solidFill>
                <a:latin typeface="Plus Jakarta Sans"/>
              </a:rPr>
              <a:t>Speaker 3 • Order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771525"/>
            <a:ext cx="6025753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Checkout &amp; Order Creation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9475" y="3574256"/>
            <a:ext cx="4962525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881337"/>
                </a:solidFill>
                <a:latin typeface="Plus Jakarta Sans"/>
              </a:rPr>
              <a:t>Secure Card Payment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9475" y="3964781"/>
            <a:ext cx="417195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9F1239"/>
                </a:solidFill>
                <a:latin typeface="Plus Jakarta Sans"/>
              </a:rPr>
              <a:t>Card payments run on Recurrente's hosted checkout. Card data never touches our servers, and the order stays pending until the gateway confirms the charge.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7125" y="3221831"/>
            <a:ext cx="23574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11D48"/>
                </a:solidFill>
                <a:latin typeface="Plus Jakarta Sans"/>
              </a:rPr>
              <a:t>Payment Integration Note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3025" y="2762250"/>
            <a:ext cx="567570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Campus Delivery Location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3025" y="2981325"/>
            <a:ext cx="5405437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Designated meeting area selection with optional delivery notes.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3025" y="3714750"/>
            <a:ext cx="5338167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Cash on Delivery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3025" y="3933825"/>
            <a:ext cx="5083968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In-person cash payment confirmation upon receiving order.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3025" y="4667250"/>
            <a:ext cx="6350793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Order Confirmation &amp; Receipt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3025" y="4886325"/>
            <a:ext cx="604837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Plus Jakarta Sans"/>
              </a:rPr>
              <a:t>Unique order code generation and optional downloadable PDF receipt.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991725" y="533400"/>
            <a:ext cx="1590675" cy="666750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2947987"/>
            <a:ext cx="10972800" cy="847725"/>
          </a:xfrm>
          <a:prstGeom prst="roundRect">
            <a:avLst>
              <a:gd name="adj" fmla="val 1797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4024312"/>
            <a:ext cx="10972800" cy="857250"/>
          </a:xfrm>
          <a:prstGeom prst="roundRect">
            <a:avLst>
              <a:gd name="adj" fmla="val 17777"/>
            </a:avLst>
          </a:prstGeom>
          <a:solidFill>
            <a:srgbClr val="FFF1F2"/>
          </a:solidFill>
          <a:ln w="9525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47725" y="3186112"/>
            <a:ext cx="1870769" cy="371475"/>
          </a:xfrm>
          <a:prstGeom prst="roundRect">
            <a:avLst>
              <a:gd name="adj" fmla="val 20512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004244" y="3186112"/>
            <a:ext cx="1870769" cy="371475"/>
          </a:xfrm>
          <a:prstGeom prst="roundRect">
            <a:avLst>
              <a:gd name="adj" fmla="val 20512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160764" y="3186112"/>
            <a:ext cx="1870769" cy="371475"/>
          </a:xfrm>
          <a:prstGeom prst="roundRect">
            <a:avLst>
              <a:gd name="adj" fmla="val 20512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7283" y="3186112"/>
            <a:ext cx="1870769" cy="371475"/>
          </a:xfrm>
          <a:prstGeom prst="roundRect">
            <a:avLst>
              <a:gd name="adj" fmla="val 20512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473803" y="3186112"/>
            <a:ext cx="1870769" cy="371475"/>
          </a:xfrm>
          <a:prstGeom prst="roundRect">
            <a:avLst>
              <a:gd name="adj" fmla="val 20512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7725" y="4262437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839200" y="4291012"/>
            <a:ext cx="1219200" cy="323850"/>
          </a:xfrm>
          <a:prstGeom prst="roundRect">
            <a:avLst>
              <a:gd name="adj" fmla="val 23529"/>
            </a:avLst>
          </a:prstGeom>
          <a:solidFill>
            <a:srgbClr val="FDA4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172700" y="4291012"/>
            <a:ext cx="1171575" cy="323850"/>
          </a:xfrm>
          <a:prstGeom prst="roundRect">
            <a:avLst>
              <a:gd name="adj" fmla="val 23529"/>
            </a:avLst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694" y="3300412"/>
            <a:ext cx="133350" cy="1524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214" y="3300412"/>
            <a:ext cx="133350" cy="1524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733" y="3300412"/>
            <a:ext cx="133350" cy="1524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4253" y="3300412"/>
            <a:ext cx="13335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9600" y="533400"/>
            <a:ext cx="2714625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07. State Machine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4125" y="609600"/>
            <a:ext cx="138112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Finite State Machine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771525"/>
            <a:ext cx="3437929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Order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278" y="3281362"/>
            <a:ext cx="2033661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334155"/>
                </a:solidFill>
                <a:latin typeface="Plus Jakarta Sans"/>
              </a:rPr>
              <a:t>1. Received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2798" y="3281362"/>
            <a:ext cx="2033661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B45309"/>
                </a:solidFill>
                <a:latin typeface="Plus Jakarta Sans"/>
              </a:rPr>
              <a:t>2. Preparation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9317" y="3281362"/>
            <a:ext cx="2033661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369A1"/>
                </a:solidFill>
                <a:latin typeface="Plus Jakarta Sans"/>
              </a:rPr>
              <a:t>3. On Route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35837" y="3281362"/>
            <a:ext cx="2033661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6B21A8"/>
                </a:solidFill>
                <a:latin typeface="Plus Jakarta Sans"/>
              </a:rPr>
              <a:t>4. Meeting 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2356" y="3281362"/>
            <a:ext cx="2033661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15803D"/>
                </a:solidFill>
                <a:latin typeface="Plus Jakarta Sans"/>
              </a:rPr>
              <a:t>5. Delivered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4262437"/>
            <a:ext cx="66675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 i="0" u="none">
                <a:solidFill>
                  <a:srgbClr val="E11D48"/>
                </a:solidFill>
                <a:latin typeface="Plus Jakarta Sans"/>
              </a:rPr>
              <a:t>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367212"/>
            <a:ext cx="10096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881337"/>
                </a:solidFill>
                <a:latin typeface="Plus Jakarta Sans"/>
              </a:rPr>
              <a:t>Retry Delivery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25100" y="4367212"/>
            <a:ext cx="96202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Plus Jakarta Sans"/>
              </a:rPr>
              <a:t>Cancel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1125" y="4267200"/>
            <a:ext cx="592574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9F1239"/>
                </a:solidFill>
                <a:latin typeface="Plus Jakarta Sans"/>
              </a:rPr>
              <a:t>Exception Handling: Recipient Not Found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1125" y="4467225"/>
            <a:ext cx="5643562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BE123C"/>
                </a:solidFill>
                <a:latin typeface="Plus Jakarta Sans"/>
              </a:rPr>
              <a:t>Prevents arbitrary state jumps and guarantees clean operational records.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09600" y="4629150"/>
            <a:ext cx="5248275" cy="609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4629150"/>
            <a:ext cx="38100" cy="6096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075" y="2105025"/>
            <a:ext cx="5267325" cy="3619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605087"/>
            <a:ext cx="190500" cy="2000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138487"/>
            <a:ext cx="190500" cy="2000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671887"/>
            <a:ext cx="238125" cy="2000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014787"/>
            <a:ext cx="190500" cy="2000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533400"/>
            <a:ext cx="49149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7C3AED"/>
                </a:solidFill>
                <a:latin typeface="Plus Jakarta Sans"/>
              </a:rPr>
              <a:t>08. Fulfillment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771525"/>
            <a:ext cx="632579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Tracking &amp; Delivery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90800"/>
            <a:ext cx="50387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Plus Jakarta Sans"/>
              </a:rPr>
              <a:t>WebSocket Live Updates: Real-time status push to buyer tracking screen.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24200"/>
            <a:ext cx="50387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334155"/>
                </a:solidFill>
                <a:latin typeface="Plus Jakarta Sans"/>
              </a:rPr>
              <a:t>Delivery Photo Capture: Driver attaches physical package proof photo.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025" y="3657600"/>
            <a:ext cx="6207918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Plus Jakarta Sans"/>
              </a:rPr>
              <a:t>Digital Signature Canvas: Recipient signs directly on driver screen.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000500"/>
            <a:ext cx="50387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Plus Jakarta Sans"/>
              </a:rPr>
              <a:t>QR Scan &amp; Code Lookup: Driver scans the receipt QR or types the code.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" y="4762500"/>
            <a:ext cx="4962525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475569"/>
                </a:solidFill>
                <a:latin typeface="Plus Jakarta Sans"/>
              </a:rPr>
              <a:t>Signature Storage Note:</a:t>
            </a:r>
            <a:r>
              <a:rPr sz="1050" b="0" i="0" u="none">
                <a:solidFill>
                  <a:srgbClr val="475569"/>
                </a:solidFill>
                <a:latin typeface="Plus Jakarta Sans"/>
              </a:rPr>
              <a:t> The signature canvas is currently uploaded as image evidence. A dedicated database signature field is pending.</a:t>
            </a: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638EC2CA-2016-B676-A098-79EA4B251D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9712" y="367570"/>
            <a:ext cx="5234638" cy="6313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576512"/>
            <a:ext cx="10972800" cy="790575"/>
          </a:xfrm>
          <a:prstGeom prst="roundRect">
            <a:avLst>
              <a:gd name="adj" fmla="val 14457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519487"/>
            <a:ext cx="10972800" cy="790575"/>
          </a:xfrm>
          <a:prstGeom prst="roundRect">
            <a:avLst>
              <a:gd name="adj" fmla="val 14457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991725" y="2838450"/>
            <a:ext cx="1390650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06000" y="3781425"/>
            <a:ext cx="1476375" cy="266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4462462"/>
            <a:ext cx="5410200" cy="790575"/>
          </a:xfrm>
          <a:prstGeom prst="roundRect">
            <a:avLst>
              <a:gd name="adj" fmla="val 14457"/>
            </a:avLst>
          </a:prstGeom>
          <a:solidFill>
            <a:srgbClr val="FFF7ED"/>
          </a:solidFill>
          <a:ln w="9525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72200" y="4462462"/>
            <a:ext cx="5410200" cy="790575"/>
          </a:xfrm>
          <a:prstGeom prst="roundRect">
            <a:avLst>
              <a:gd name="adj" fmla="val 14457"/>
            </a:avLst>
          </a:prstGeom>
          <a:solidFill>
            <a:srgbClr val="FAF5FF"/>
          </a:solidFill>
          <a:ln w="9525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2781300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" y="3724275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4667250"/>
            <a:ext cx="381000" cy="3810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2225" y="4667250"/>
            <a:ext cx="381000" cy="3810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875" y="2886075"/>
            <a:ext cx="190500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3829050"/>
            <a:ext cx="171450" cy="1714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925" y="4772025"/>
            <a:ext cx="152400" cy="1714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7475" y="4772025"/>
            <a:ext cx="190500" cy="1714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533400"/>
            <a:ext cx="3876675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09. System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800" y="533400"/>
            <a:ext cx="222885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4748B"/>
                </a:solidFill>
                <a:latin typeface="Plus Jakarta Sans"/>
              </a:rPr>
              <a:t>Speaker 4 • Tech Stack &amp;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771525"/>
            <a:ext cx="496312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Technical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25075" y="2895600"/>
            <a:ext cx="1219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1D4ED8"/>
                </a:solidFill>
                <a:latin typeface="Plus Jakarta Sans"/>
              </a:rPr>
              <a:t>REST / WebSocket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39350" y="3838575"/>
            <a:ext cx="130492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15803D"/>
                </a:solidFill>
                <a:latin typeface="Plus Jakarta Sans"/>
              </a:rPr>
              <a:t>State Machine Logic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3025" y="2776537"/>
            <a:ext cx="341292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3A8A"/>
                </a:solidFill>
                <a:latin typeface="Plus Jakarta Sans"/>
              </a:rPr>
              <a:t>Browser Frontend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3025" y="2995612"/>
            <a:ext cx="3250406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3B82F6"/>
                </a:solidFill>
                <a:latin typeface="Plus Jakarta Sans"/>
              </a:rPr>
              <a:t>Vanilla JS, HTML5, CSS3, Signature Canvas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3025" y="3719512"/>
            <a:ext cx="3750468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4532D"/>
                </a:solidFill>
                <a:latin typeface="Plus Jakarta Sans"/>
              </a:rPr>
              <a:t>Express REST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3025" y="3938587"/>
            <a:ext cx="357187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16A34A"/>
                </a:solidFill>
                <a:latin typeface="Plus Jakarta Sans"/>
              </a:rPr>
              <a:t>Node.js, Express Router, JWT Auth Middleware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3025" y="4662487"/>
            <a:ext cx="1987748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7C2D12"/>
                </a:solidFill>
                <a:latin typeface="Plus Jakarta Sans"/>
              </a:rPr>
              <a:t>MySQL 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3025" y="4881562"/>
            <a:ext cx="1893093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C2410C"/>
                </a:solidFill>
                <a:latin typeface="Plus Jakarta Sans"/>
              </a:rPr>
              <a:t>Relational Business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5625" y="4662487"/>
            <a:ext cx="2987873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581C87"/>
                </a:solidFill>
                <a:latin typeface="Plus Jakarta Sans"/>
              </a:rPr>
              <a:t>External Microservices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5625" y="4881562"/>
            <a:ext cx="2845593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7E22CE"/>
                </a:solidFill>
                <a:latin typeface="Plus Jakarta Sans"/>
              </a:rPr>
              <a:t>PDF Generator, SMTP, WhatsApp API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896475" y="533400"/>
            <a:ext cx="1685925" cy="666750"/>
          </a:xfrm>
          <a:prstGeom prst="roundRect">
            <a:avLst>
              <a:gd name="adj" fmla="val 11428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038475"/>
            <a:ext cx="5410200" cy="819150"/>
          </a:xfrm>
          <a:prstGeom prst="roundRect">
            <a:avLst>
              <a:gd name="adj" fmla="val 1395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72200" y="3038475"/>
            <a:ext cx="5410200" cy="819150"/>
          </a:xfrm>
          <a:prstGeom prst="roundRect">
            <a:avLst>
              <a:gd name="adj" fmla="val 1395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4010025"/>
            <a:ext cx="5410200" cy="819150"/>
          </a:xfrm>
          <a:prstGeom prst="roundRect">
            <a:avLst>
              <a:gd name="adj" fmla="val 1395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172200" y="4010025"/>
            <a:ext cx="5410200" cy="819150"/>
          </a:xfrm>
          <a:prstGeom prst="roundRect">
            <a:avLst>
              <a:gd name="adj" fmla="val 1395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625" y="3257550"/>
            <a:ext cx="209550" cy="2095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3257550"/>
            <a:ext cx="180975" cy="2095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4229100"/>
            <a:ext cx="209550" cy="2095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2225" y="4229100"/>
            <a:ext cx="266700" cy="209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533400"/>
            <a:ext cx="4657725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10. Compliance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48875" y="609600"/>
            <a:ext cx="1476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Production Standards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771525"/>
            <a:ext cx="5988248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Security &amp; Quality 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1575" y="3238500"/>
            <a:ext cx="496312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Plus Jakarta Sans"/>
              </a:rPr>
              <a:t>JWT &amp; HttpOnly Cookies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1575" y="3486150"/>
            <a:ext cx="472678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Role authorization with secure token cookie refresh behavior.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5600" y="3238500"/>
            <a:ext cx="4813101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Plus Jakarta Sans"/>
              </a:rPr>
              <a:t>Bcrypt Hashing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5600" y="3486150"/>
            <a:ext cx="4583906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Secure password encryption for all platform user accounts.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1575" y="4210050"/>
            <a:ext cx="456307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Plus Jakarta Sans"/>
              </a:rPr>
              <a:t>Input Limits &amp;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1575" y="4457700"/>
            <a:ext cx="434578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API rate limiting and payload upload file-size restrictions.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1325" y="4210050"/>
            <a:ext cx="4613076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Plus Jakarta Sans"/>
              </a:rPr>
              <a:t>Audit Logs &amp; reCAPTCHA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91325" y="4457700"/>
            <a:ext cx="4393406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Plus Jakarta Sans"/>
              </a:rPr>
              <a:t>Action tracking records and anti-bot checkout validation.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867900" y="533400"/>
            <a:ext cx="1714500" cy="666750"/>
          </a:xfrm>
          <a:prstGeom prst="roundRect">
            <a:avLst>
              <a:gd name="adj" fmla="val 11428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029450" y="2900362"/>
            <a:ext cx="4552950" cy="1990725"/>
          </a:xfrm>
          <a:prstGeom prst="roundRect">
            <a:avLst>
              <a:gd name="adj" fmla="val 7655"/>
            </a:avLst>
          </a:prstGeom>
          <a:solidFill>
            <a:srgbClr val="FFF1F2"/>
          </a:solidFill>
          <a:ln w="9525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2043112"/>
            <a:ext cx="6115050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2586037"/>
            <a:ext cx="6115050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3128962"/>
            <a:ext cx="6115050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09600" y="3671887"/>
            <a:ext cx="6115050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09600" y="4214812"/>
            <a:ext cx="6115050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09600" y="4757737"/>
            <a:ext cx="6115050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09600" y="5300662"/>
            <a:ext cx="6115050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575" y="3157537"/>
            <a:ext cx="142875" cy="142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533400"/>
            <a:ext cx="33909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11. Live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20300" y="609600"/>
            <a:ext cx="15049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B45309"/>
                </a:solidFill>
                <a:latin typeface="Plus Jakarta Sans"/>
              </a:rPr>
              <a:t>7-Step Live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771525"/>
            <a:ext cx="432554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Demonstration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7575" y="3471862"/>
            <a:ext cx="492442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9F1239"/>
                </a:solidFill>
                <a:latin typeface="Plus Jakarta Sans"/>
              </a:rPr>
              <a:t>Automatic Workshop Timer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7575" y="3843337"/>
            <a:ext cx="4171950" cy="809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BE123C"/>
                </a:solidFill>
                <a:latin typeface="Plus Jakarta Sans"/>
              </a:rPr>
              <a:t>Orders move to production after 15 s and are ready for delivery within 60 s. Every change is pushed live to the tracking view over WebSocket.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575" y="2166937"/>
            <a:ext cx="35242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Plus Jakarta San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600" y="2176462"/>
            <a:ext cx="12954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1E293B"/>
                </a:solidFill>
                <a:latin typeface="Plus Jakarta Sans"/>
              </a:rPr>
              <a:t>Login as Buyer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575" y="2709862"/>
            <a:ext cx="381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Plus Jakarta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175" y="2719387"/>
            <a:ext cx="2214562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1E293B"/>
                </a:solidFill>
                <a:latin typeface="Plus Jakarta Sans"/>
              </a:rPr>
              <a:t>Personalize Product (A/B)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575" y="3252787"/>
            <a:ext cx="381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Plus Jakarta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175" y="3262312"/>
            <a:ext cx="142875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1E293B"/>
                </a:solidFill>
                <a:latin typeface="Plus Jakarta Sans"/>
              </a:rPr>
              <a:t>Add Item to Cart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575" y="3795712"/>
            <a:ext cx="39052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Plus Jakarta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" y="3805237"/>
            <a:ext cx="1607343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1E293B"/>
                </a:solidFill>
                <a:latin typeface="Plus Jakarta Sans"/>
              </a:rPr>
              <a:t>Confirm Checkout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575" y="4338637"/>
            <a:ext cx="381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Plus Jakarta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175" y="4348162"/>
            <a:ext cx="1726406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1E293B"/>
                </a:solidFill>
                <a:latin typeface="Plus Jakarta Sans"/>
              </a:rPr>
              <a:t>Open Tracking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575" y="4881562"/>
            <a:ext cx="381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Plus Jakarta Sans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175" y="4891087"/>
            <a:ext cx="19050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1E293B"/>
                </a:solidFill>
                <a:latin typeface="Plus Jakarta Sans"/>
              </a:rPr>
              <a:t>Update Order as Staff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575" y="5424487"/>
            <a:ext cx="3714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Plus Jakarta Sans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9650" y="5434012"/>
            <a:ext cx="2500312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1E293B"/>
                </a:solidFill>
                <a:latin typeface="Plus Jakarta Sans"/>
              </a:rPr>
              <a:t>Confirm Delivery &amp; Signature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5700" y="3138487"/>
            <a:ext cx="261937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E11D48"/>
                </a:solidFill>
                <a:latin typeface="Plus Jakarta Sans"/>
              </a:rPr>
              <a:t>Live Demo Note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363075" y="533400"/>
            <a:ext cx="2219325" cy="666750"/>
          </a:xfrm>
          <a:prstGeom prst="roundRect">
            <a:avLst>
              <a:gd name="adj" fmla="val 11428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1504950"/>
            <a:ext cx="5372100" cy="4819650"/>
          </a:xfrm>
          <a:prstGeom prst="roundRect">
            <a:avLst>
              <a:gd name="adj" fmla="val 316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10300" y="1504950"/>
            <a:ext cx="5372100" cy="4819650"/>
          </a:xfrm>
          <a:prstGeom prst="roundRect">
            <a:avLst>
              <a:gd name="adj" fmla="val 3162"/>
            </a:avLst>
          </a:prstGeom>
          <a:solidFill>
            <a:srgbClr val="FFF1F2"/>
          </a:solidFill>
          <a:ln w="9525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1804987"/>
            <a:ext cx="190500" cy="19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525" y="1804987"/>
            <a:ext cx="190500" cy="190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33400"/>
            <a:ext cx="4791075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11D48"/>
                </a:solidFill>
                <a:latin typeface="Plus Jakarta Sans"/>
              </a:rPr>
              <a:t>12. Scope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15475" y="609600"/>
            <a:ext cx="20097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11D48"/>
                </a:solidFill>
                <a:latin typeface="Plus Jakarta Sans"/>
              </a:rPr>
              <a:t>Implemented vs Future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771525"/>
            <a:ext cx="616327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Current Scope &amp; 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1575" y="1781175"/>
            <a:ext cx="6025753" cy="23812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Implemented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2275" y="1781175"/>
            <a:ext cx="5419725" cy="23812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9F1239"/>
                </a:solidFill>
                <a:latin typeface="Plus Jakarta Sans"/>
              </a:rPr>
              <a:t>Known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5825" y="2171700"/>
            <a:ext cx="6024562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 Sans"/>
              </a:rPr>
              <a:t>• Functional A/B side product visual 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825" y="2466975"/>
            <a:ext cx="6024562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 Sans"/>
              </a:rPr>
              <a:t>• End-to-end checkout with campus location selection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2762250"/>
            <a:ext cx="6024562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 Sans"/>
              </a:rPr>
              <a:t>• Live WebSocket tracking timeline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825" y="3057525"/>
            <a:ext cx="6024562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 Sans"/>
              </a:rPr>
              <a:t>• Delivery driver signature canvas &amp; photo capture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525" y="2171700"/>
            <a:ext cx="570547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9F1239"/>
                </a:solidFill>
                <a:latin typeface="Plus Jakarta Sans"/>
              </a:rPr>
              <a:t>• Card payments need production Recurrente API keys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6525" y="2466975"/>
            <a:ext cx="570547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9F1239"/>
                </a:solidFill>
                <a:latin typeface="Plus Jakarta Sans"/>
              </a:rPr>
              <a:t>• Face login accuracy depends on camera and lighting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6525" y="2762250"/>
            <a:ext cx="570547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9F1239"/>
                </a:solidFill>
                <a:latin typeface="Plus Jakarta Sans"/>
              </a:rPr>
              <a:t>• Stock deduction needs transactional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525" y="3057525"/>
            <a:ext cx="5705475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9F1239"/>
                </a:solidFill>
                <a:latin typeface="Plus Jakarta Sans"/>
              </a:rPr>
              <a:t>• Signature stored as uploaded image, not separate 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A46961AC-A307-2CF6-2A44-F05220B462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257" b="73586"/>
          <a:stretch/>
        </p:blipFill>
        <p:spPr>
          <a:xfrm>
            <a:off x="0" y="4599008"/>
            <a:ext cx="12192000" cy="2302223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609600" y="5838825"/>
            <a:ext cx="10972800" cy="4095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04547" y="910312"/>
            <a:ext cx="533400" cy="533400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5838825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761672" y="910312"/>
            <a:ext cx="819150" cy="533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00" b="1" i="0" u="none">
                <a:solidFill>
                  <a:srgbClr val="FFFFFF"/>
                </a:solidFill>
                <a:latin typeface="Plus Jakarta Sans"/>
              </a:rPr>
              <a:t>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89636" y="1672312"/>
            <a:ext cx="5763220" cy="5866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sz="4200" b="1" i="0" u="none">
                <a:solidFill>
                  <a:srgbClr val="FFFFFF"/>
                </a:solidFill>
                <a:latin typeface="Plus Jakarta Sans"/>
              </a:rPr>
              <a:t>UMG Personaliza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68528" y="2487592"/>
            <a:ext cx="5405437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38BDF8"/>
                </a:solidFill>
                <a:latin typeface="Plus Jakarta Sans"/>
              </a:rPr>
              <a:t>Design it. Order it. Track it. Receive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9372" y="3078142"/>
            <a:ext cx="71437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 dirty="0">
                <a:solidFill>
                  <a:srgbClr val="94A3B8"/>
                </a:solidFill>
                <a:latin typeface="Plus Jakarta Sans"/>
              </a:rPr>
              <a:t>Thank you for your attention. We are ready to answer your questions and demonstrate the platform live.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1CFA848-AAE2-2D5A-C7AD-1ED770BD67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514" b="31687"/>
          <a:stretch/>
        </p:blipFill>
        <p:spPr>
          <a:xfrm>
            <a:off x="2188651" y="4963882"/>
            <a:ext cx="7814698" cy="16686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</TotalTime>
  <Words>845</Words>
  <Application>Microsoft Office PowerPoint</Application>
  <PresentationFormat>Panorámica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1" baseType="lpstr">
      <vt:lpstr>Plus Jakarta Sans</vt:lpstr>
      <vt:lpstr>Arial</vt:lpstr>
      <vt:lpstr>Palatino Linotype</vt:lpstr>
      <vt:lpstr>Mongolian Baiti</vt:lpstr>
      <vt:lpstr>monospace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Hugo L</cp:lastModifiedBy>
  <cp:revision>2</cp:revision>
  <dcterms:created xsi:type="dcterms:W3CDTF">2013-01-27T09:14:16Z</dcterms:created>
  <dcterms:modified xsi:type="dcterms:W3CDTF">2026-09-24T07:59:34Z</dcterms:modified>
  <cp:category/>
</cp:coreProperties>
</file>